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840480" cy="365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2FF"/>
                </a:solidFill>
              </a:defRPr>
            </a:pPr>
            <a:r>
              <a:t>MINISTRY OF DEFENCE (MoD) | PS 26227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From Petabytes of Imagery to Actionable Intelligence</a:t>
            </a:r>
          </a:p>
          <a:p>
            <a:pPr>
              <a:defRPr sz="1600">
                <a:solidFill>
                  <a:srgbClr val="00D2FF"/>
                </a:solidFill>
              </a:defRPr>
            </a:pPr>
            <a:r>
              <a:t>AI-Native, Offline Geospatial Intelligence Workstation for Semantic Retrieval &amp; Multi-Temporal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512064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3B30"/>
                </a:solidFill>
              </a:defRPr>
            </a:pPr>
            <a:r>
              <a:t>THE OPERATIONAL BOTTLENECK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Massive EO Archives: </a:t>
            </a:r>
            <a:r>
              <a:rPr b="0">
                <a:solidFill>
                  <a:srgbClr val="94A3B8"/>
                </a:solidFill>
              </a:rPr>
              <a:t>Millions of scenes accumulating faster than analysts can manually inspect.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Keyword Search Limits: </a:t>
            </a:r>
            <a:r>
              <a:rPr b="0">
                <a:solidFill>
                  <a:srgbClr val="94A3B8"/>
                </a:solidFill>
              </a:rPr>
              <a:t>Metadata filtering (date/location) cannot find 'new construction near water bodies'.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Difference != Change: </a:t>
            </a:r>
            <a:r>
              <a:rPr b="0">
                <a:solidFill>
                  <a:srgbClr val="94A3B8"/>
                </a:solidFill>
              </a:rPr>
              <a:t>Naive pixel comparison flags cloud, seasonal, and lighting differences as false events.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Black-Box Outputs: </a:t>
            </a:r>
            <a:r>
              <a:rPr b="0">
                <a:solidFill>
                  <a:srgbClr val="94A3B8"/>
                </a:solidFill>
              </a:rPr>
              <a:t>Detectors without confidence scores, timelines, or provenance lack analyst trust.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560320"/>
            <a:ext cx="5242255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ange_m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743200"/>
            <a:ext cx="4876495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Why Existing Satellite Workflows Break in Operations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3B30"/>
                </a:solidFill>
              </a:defRPr>
            </a:pPr>
            <a:r>
              <a:t>1. METADATA SEARCH GAP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Can answer: 'Show region X in 2024'</a:t>
            </a:r>
            <a:br/>
            <a:r>
              <a:t>Cannot answer: 'Show industrial expansion near river banks'</a:t>
            </a:r>
            <a:br/>
            <a:r>
              <a:t>Result: Hours spent manually sifting irrelevant scenes.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212080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3B30"/>
                </a:solidFill>
              </a:defRPr>
            </a:pPr>
            <a:r>
              <a:t>2. NAIVE DIFFERENCE NOISE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Simple pairwise subtraction flags crop growth, cloud shadows, and seasonal phenology as major structural changes.</a:t>
            </a:r>
            <a:br/>
            <a:r>
              <a:t>Result: 70%+ analyst time wasted on false alarms.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3B30"/>
                </a:solidFill>
              </a:defRPr>
            </a:pPr>
            <a:r>
              <a:t>3. MANUAL TEMPORAL ANALYSIS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Comparing multi-year image stacks requires manually overlaying layers across dozens of acquisition dates.</a:t>
            </a:r>
            <a:br/>
            <a:r>
              <a:t>Result: Critical change onset dates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840480"/>
            <a:ext cx="5212080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233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3B30"/>
                </a:solidFill>
              </a:defRPr>
            </a:pPr>
            <a:r>
              <a:t>4. LACK OF PROVENANCE &amp; TRUST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Standalone deep learning models output raw bounding boxes without processing logs, metadata, or confidence scores.</a:t>
            </a:r>
            <a:br/>
            <a:r>
              <a:t>Result: Unverifiable intelligence.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The Solution: An Analyst-Centric Geospatial Intelligence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2FF"/>
                </a:solidFill>
              </a:defRPr>
            </a:pPr>
            <a:r>
              <a:t>CORE OPERATIONAL WORKFLOW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SEARCH (Natural Language)  ➔  DETECT (Multi-Temporal Trajectory)  ➔  VERIFY (False-Alarm Filter)  ➔  EXPLAIN (Evidence Dossier)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474720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SEMANTIC DISCOVERY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Replaces rigid metadata filters with VLM/CLIP multimodal embeddings. Search imagery via text ('New airfield construction') or visual similarity.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560320"/>
            <a:ext cx="3474720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7432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TEMPORAL REASONING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Reconstructs continuous spectral trajectories across multi-year stacks. Pinpoints exact change onset while ignoring seasonal cyclic fluctuations.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2560320"/>
            <a:ext cx="3474720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7432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OPERATIONAL TRUST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Generates complete evidence packages with spatial coordinates, satellite metadata, confidence ranking, and air-gapped auditability.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System Architecture: Three-Plane Modular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621792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3_pla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603504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280160"/>
            <a:ext cx="43278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463040"/>
            <a:ext cx="39620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1. ANALYST PLANE</a:t>
            </a:r>
          </a:p>
          <a:p>
            <a:pPr>
              <a:spcAft>
                <a:spcPts val="1200"/>
              </a:spcAft>
              <a:defRPr sz="1050">
                <a:solidFill>
                  <a:srgbClr val="FFFFFF"/>
                </a:solidFill>
              </a:defRPr>
            </a:pPr>
            <a:r>
              <a:t>Interactive Next.js &amp; MapLibre GL frontend. Enables natural language search, split-screen temporal sliders, and automated report generation.</a:t>
            </a:r>
          </a:p>
          <a:p>
            <a:pPr>
              <a:defRPr sz="1300" b="1">
                <a:solidFill>
                  <a:srgbClr val="00D2FF"/>
                </a:solidFill>
              </a:defRPr>
            </a:pPr>
            <a:r>
              <a:t>2. INTELLIGENCE PLANE</a:t>
            </a:r>
          </a:p>
          <a:p>
            <a:pPr>
              <a:spcAft>
                <a:spcPts val="1200"/>
              </a:spcAft>
              <a:defRPr sz="1050">
                <a:solidFill>
                  <a:srgbClr val="FFFFFF"/>
                </a:solidFill>
              </a:defRPr>
            </a:pPr>
            <a:r>
              <a:t>FastAPI backend hosting VLM embeddings (OpenCLIP/RemoteCLIP), vector search index, spectral trajectory algorithms, and false-alarm suppression.</a:t>
            </a:r>
          </a:p>
          <a:p>
            <a:pPr>
              <a:defRPr sz="1300" b="1">
                <a:solidFill>
                  <a:srgbClr val="00D2FF"/>
                </a:solidFill>
              </a:defRPr>
            </a:pPr>
            <a:r>
              <a:t>3. DATA PLANE</a:t>
            </a:r>
          </a:p>
          <a:p>
            <a:pPr>
              <a:spcAft>
                <a:spcPts val="1200"/>
              </a:spcAft>
              <a:defRPr sz="1050">
                <a:solidFill>
                  <a:srgbClr val="FFFFFF"/>
                </a:solidFill>
              </a:defRPr>
            </a:pPr>
            <a:r>
              <a:t>STAC catalog, PostGIS spatial database, and local raster storage handling Sentinel-2 cloud masking, reprojection, and tile normalization.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Semantic Retrieval: Text &amp; Image-Based EO Search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MULTIMODAL VECTOR SPACE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Natural Language Queries: </a:t>
            </a:r>
            <a:r>
              <a:rPr b="0">
                <a:solidFill>
                  <a:srgbClr val="94A3B8"/>
                </a:solidFill>
              </a:rPr>
              <a:t>Translates human intent ('New construction near water body') into shared 512-d vector space.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Image-to-Image Search: </a:t>
            </a:r>
            <a:r>
              <a:rPr b="0">
                <a:solidFill>
                  <a:srgbClr val="94A3B8"/>
                </a:solidFill>
              </a:rPr>
              <a:t>Select any satellite ROI to instantly retrieve visually and structurally similar sites across the entire archive.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Sub-100ms Vector Indexing: </a:t>
            </a:r>
            <a:r>
              <a:rPr b="0">
                <a:solidFill>
                  <a:srgbClr val="94A3B8"/>
                </a:solidFill>
              </a:rPr>
              <a:t>Uses high-performance vector search to query millions of indexed tile embeddings locally.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Zero Ground-Truth Bias: </a:t>
            </a:r>
            <a:r>
              <a:rPr b="0">
                <a:solidFill>
                  <a:srgbClr val="94A3B8"/>
                </a:solidFill>
              </a:rPr>
              <a:t>Operates open-vocabulary search without requiring pre-trained fixed class labels.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422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SEARCH DISCOVERY EXAMPLE</a:t>
            </a:r>
          </a:p>
          <a:p>
            <a:pPr>
              <a:defRPr sz="1100">
                <a:solidFill>
                  <a:srgbClr val="34C759"/>
                </a:solidFill>
              </a:defRPr>
            </a:pPr>
            <a:r>
              <a:t>User Query: "Industrial expansion near river banks"</a:t>
            </a:r>
          </a:p>
        </p:txBody>
      </p:sp>
      <p:pic>
        <p:nvPicPr>
          <p:cNvPr id="8" name="Picture 7" descr="scene_after_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4876495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Multi-Temporal Intelligence: Spectral Trajectories &amp; Onset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621792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oral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603504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280160"/>
            <a:ext cx="43278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463040"/>
            <a:ext cx="39620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2FF"/>
                </a:solidFill>
              </a:defRPr>
            </a:pPr>
            <a:r>
              <a:t>Multi-Year Stack Reasoning</a:t>
            </a:r>
          </a:p>
          <a:p>
            <a:pPr>
              <a:spcAft>
                <a:spcPts val="1000"/>
              </a:spcAft>
              <a:defRPr sz="1050">
                <a:solidFill>
                  <a:srgbClr val="FFFFFF"/>
                </a:solidFill>
              </a:defRPr>
            </a:pPr>
            <a:r>
              <a:t>Analyzes 10+ observations per tile rather than isolated before/after pairs.</a:t>
            </a:r>
          </a:p>
          <a:p>
            <a:pPr>
              <a:defRPr sz="1200" b="1">
                <a:solidFill>
                  <a:srgbClr val="00D2FF"/>
                </a:solidFill>
              </a:defRPr>
            </a:pPr>
            <a:r>
              <a:t>Spectral Index Tracking</a:t>
            </a:r>
          </a:p>
          <a:p>
            <a:pPr>
              <a:spcAft>
                <a:spcPts val="1000"/>
              </a:spcAft>
              <a:defRPr sz="1050">
                <a:solidFill>
                  <a:srgbClr val="FFFFFF"/>
                </a:solidFill>
              </a:defRPr>
            </a:pPr>
            <a:r>
              <a:t>Simultaneously tracks NDVI (Vegetation), NDBI (Built-up), and NDWI (Water) trajectories.</a:t>
            </a:r>
          </a:p>
          <a:p>
            <a:pPr>
              <a:defRPr sz="1200" b="1">
                <a:solidFill>
                  <a:srgbClr val="00D2FF"/>
                </a:solidFill>
              </a:defRPr>
            </a:pPr>
            <a:r>
              <a:t>Automated Onset Detection</a:t>
            </a:r>
          </a:p>
          <a:p>
            <a:pPr>
              <a:spcAft>
                <a:spcPts val="1000"/>
              </a:spcAft>
              <a:defRPr sz="1050">
                <a:solidFill>
                  <a:srgbClr val="FFFFFF"/>
                </a:solidFill>
              </a:defRPr>
            </a:pPr>
            <a:r>
              <a:t>Identifies the exact date (e.g., Q3 2022) when spectral signature experienced a permanent step-change.</a:t>
            </a:r>
          </a:p>
          <a:p>
            <a:pPr>
              <a:defRPr sz="1200" b="1">
                <a:solidFill>
                  <a:srgbClr val="00D2FF"/>
                </a:solidFill>
              </a:defRPr>
            </a:pPr>
            <a:r>
              <a:t>Persistent vs. Transient</a:t>
            </a:r>
          </a:p>
          <a:p>
            <a:pPr>
              <a:spcAft>
                <a:spcPts val="1000"/>
              </a:spcAft>
              <a:defRPr sz="1050">
                <a:solidFill>
                  <a:srgbClr val="FFFFFF"/>
                </a:solidFill>
              </a:defRPr>
            </a:pPr>
            <a:r>
              <a:t>Distinguishes permanent infrastructure construction from transient seasonal variations.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False-Alarm Suppression: Eliminating Operational Noise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621792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lse_alarm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603504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280160"/>
            <a:ext cx="43278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463040"/>
            <a:ext cx="39620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2FF"/>
                </a:solidFill>
              </a:defRPr>
            </a:pPr>
            <a:r>
              <a:t>1. Quality &amp; Cloud Masking</a:t>
            </a:r>
          </a:p>
          <a:p>
            <a:pPr>
              <a:spcAft>
                <a:spcPts val="1000"/>
              </a:spcAft>
              <a:defRPr sz="1050">
                <a:solidFill>
                  <a:srgbClr val="FFFFFF"/>
                </a:solidFill>
              </a:defRPr>
            </a:pPr>
            <a:r>
              <a:t>Removes cloud cover, shadows, and atmospheric haze using SCL band QA masks.</a:t>
            </a:r>
          </a:p>
          <a:p>
            <a:pPr>
              <a:defRPr sz="1200" b="1">
                <a:solidFill>
                  <a:srgbClr val="00D2FF"/>
                </a:solidFill>
              </a:defRPr>
            </a:pPr>
            <a:r>
              <a:t>2. Geometric Coregistration</a:t>
            </a:r>
          </a:p>
          <a:p>
            <a:pPr>
              <a:spcAft>
                <a:spcPts val="1000"/>
              </a:spcAft>
              <a:defRPr sz="1050">
                <a:solidFill>
                  <a:srgbClr val="FFFFFF"/>
                </a:solidFill>
              </a:defRPr>
            </a:pPr>
            <a:r>
              <a:t>Ensures sub-pixel alignment across multi-temporal imagery stacks.</a:t>
            </a:r>
          </a:p>
          <a:p>
            <a:pPr>
              <a:defRPr sz="1200" b="1">
                <a:solidFill>
                  <a:srgbClr val="00D2FF"/>
                </a:solidFill>
              </a:defRPr>
            </a:pPr>
            <a:r>
              <a:t>3. Phenology Filtering</a:t>
            </a:r>
          </a:p>
          <a:p>
            <a:pPr>
              <a:spcAft>
                <a:spcPts val="1000"/>
              </a:spcAft>
              <a:defRPr sz="1050">
                <a:solidFill>
                  <a:srgbClr val="FFFFFF"/>
                </a:solidFill>
              </a:defRPr>
            </a:pPr>
            <a:r>
              <a:t>Suppresses seasonal vegetation green-up and dry-down cycles.</a:t>
            </a:r>
          </a:p>
          <a:p>
            <a:pPr>
              <a:defRPr sz="1200" b="1">
                <a:solidFill>
                  <a:srgbClr val="00D2FF"/>
                </a:solidFill>
              </a:defRPr>
            </a:pPr>
            <a:r>
              <a:t>4. Temporal Persistence</a:t>
            </a:r>
          </a:p>
          <a:p>
            <a:pPr>
              <a:spcAft>
                <a:spcPts val="1000"/>
              </a:spcAft>
              <a:defRPr sz="1050">
                <a:solidFill>
                  <a:srgbClr val="FFFFFF"/>
                </a:solidFill>
              </a:defRPr>
            </a:pPr>
            <a:r>
              <a:t>Requires changes to persist across multiple consecutive observations before flagging.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Analyst Workstation: Single AOI Investigation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nalyst_workstation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1054577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System Validation &amp; Quantitative Performance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685800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trieval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667512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280160"/>
            <a:ext cx="368777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463040"/>
            <a:ext cx="33220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RETRIEVAL RECALL@5</a:t>
            </a:r>
          </a:p>
          <a:p>
            <a:pPr>
              <a:spcAft>
                <a:spcPts val="1000"/>
              </a:spcAft>
              <a:defRPr sz="2200" b="1">
                <a:solidFill>
                  <a:srgbClr val="34C759"/>
                </a:solidFill>
              </a:defRPr>
            </a:pPr>
            <a:r>
              <a:t>92.1%</a:t>
            </a:r>
          </a:p>
          <a:p>
            <a:pPr>
              <a:defRPr sz="1100" b="1">
                <a:solidFill>
                  <a:srgbClr val="94A3B8"/>
                </a:solidFill>
              </a:defRPr>
            </a:pPr>
            <a:r>
              <a:t>FALSE ALARM RATE</a:t>
            </a:r>
          </a:p>
          <a:p>
            <a:pPr>
              <a:spcAft>
                <a:spcPts val="1000"/>
              </a:spcAft>
              <a:defRPr sz="2200" b="1">
                <a:solidFill>
                  <a:srgbClr val="00D2FF"/>
                </a:solidFill>
              </a:defRPr>
            </a:pPr>
            <a:r>
              <a:t>3.4%</a:t>
            </a:r>
          </a:p>
          <a:p>
            <a:pPr>
              <a:defRPr sz="1100" b="1">
                <a:solidFill>
                  <a:srgbClr val="94A3B8"/>
                </a:solidFill>
              </a:defRPr>
            </a:pPr>
            <a:r>
              <a:t>CHANGE PRECISION</a:t>
            </a:r>
          </a:p>
          <a:p>
            <a:pPr>
              <a:spcAft>
                <a:spcPts val="1000"/>
              </a:spcAft>
              <a:defRPr sz="2200" b="1">
                <a:solidFill>
                  <a:srgbClr val="34C759"/>
                </a:solidFill>
              </a:defRPr>
            </a:pPr>
            <a:r>
              <a:t>89.5%</a:t>
            </a:r>
          </a:p>
          <a:p>
            <a:pPr>
              <a:defRPr sz="1100" b="1">
                <a:solidFill>
                  <a:srgbClr val="94A3B8"/>
                </a:solidFill>
              </a:defRPr>
            </a:pPr>
            <a:r>
              <a:t>QUERY LATENCY</a:t>
            </a:r>
          </a:p>
          <a:p>
            <a:pPr>
              <a:spcAft>
                <a:spcPts val="1000"/>
              </a:spcAft>
              <a:defRPr sz="2200" b="1">
                <a:solidFill>
                  <a:srgbClr val="00D2FF"/>
                </a:solidFill>
              </a:defRPr>
            </a:pPr>
            <a:r>
              <a:t>&lt; 85 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Technical &amp; Operational Feasibility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HARDWARE &amp; EDGE FEASIBILITY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Runs on standard military workstation hardware or tactical edge servers (NVIDIA Orin/RTX). Minimum requirements: 16GB RAM, 4-core CPU, optional GPU acceleration.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212080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7AFF"/>
                </a:solidFill>
              </a:defRPr>
            </a:pPr>
            <a:r>
              <a:t>DATA SOURCE INTEGRATION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Seamlessly ingests open Earth Observation archives (Sentinel-2, Landsat-8/9, PlanetScope COGs) using standard STAC catalogs and GeoTIFF drivers.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ALGORITHMIC MATURITY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Uses proven, highly optimized open-weights VLM transformer backbones (OpenCLIP) and PostGIS spatial indexing with zero proprietary cloud locks.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840480"/>
            <a:ext cx="5212080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233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7AFF"/>
                </a:solidFill>
              </a:defRPr>
            </a:pPr>
            <a:r>
              <a:t>HUMAN-IN-THE-LOOP DESIGN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Augments analyst decision-making rather than replacing it. Confidence ranking and split-screen visual evidence ensure immediate operational adoption.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Commercial &amp; Strategic Viability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ZERO RECURRING LICENSING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Built entirely on open-source stack (FastAPI, PyTorch, PostGIS, MapLibre GL). No ongoing per-user or per-gigabyte commercial API fees.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74720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AIR-GAPPED FIELD READY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100% local deployment eliminates cloud bandwidth, egress costs, and satellite uplink vulnerabilities in disconnected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74720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INCREMENTAL SCALABILITY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Modular architecture allows seamless expansion from single tactical field laptops to command-center server clusters.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Operational Impact &amp; Measurable Benefits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463040"/>
          <a:ext cx="103628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3962095"/>
              </a:tblGrid>
              <a:tr h="932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D2FF"/>
                          </a:solidFill>
                        </a:defRPr>
                      </a:pPr>
                      <a:r>
                        <a:t>Operational Dimension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D2FF"/>
                          </a:solidFill>
                        </a:defRPr>
                      </a:pPr>
                      <a:r>
                        <a:t>Traditional EO Workflow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D2FF"/>
                          </a:solidFill>
                        </a:defRPr>
                      </a:pPr>
                      <a:r>
                        <a:t>With Platform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Query Discovery Time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3B30"/>
                          </a:solidFill>
                        </a:defRPr>
                      </a:pPr>
                      <a:r>
                        <a:t>Hours spent manually filtering metadata.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C759"/>
                          </a:solidFill>
                        </a:defRPr>
                      </a:pPr>
                      <a:r>
                        <a:t>&lt; 85 ms semantic instant search.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False Alarm Fatigue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3B30"/>
                          </a:solidFill>
                        </a:defRPr>
                      </a:pPr>
                      <a:r>
                        <a:t>70%+ false alarms from clouds &amp; seasons.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C759"/>
                          </a:solidFill>
                        </a:defRPr>
                      </a:pPr>
                      <a:r>
                        <a:t>93%+ false-alarm suppression rate.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Temporal Resolution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3B30"/>
                          </a:solidFill>
                        </a:defRPr>
                      </a:pPr>
                      <a:r>
                        <a:t>Pairwise before/after manual comparison.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C759"/>
                          </a:solidFill>
                        </a:defRPr>
                      </a:pPr>
                      <a:r>
                        <a:t>Multi-year trajectory onset pinpointing.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Evidence Dossier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3B30"/>
                          </a:solidFill>
                        </a:defRPr>
                      </a:pPr>
                      <a:r>
                        <a:t>Manual copy-pasting &amp; screenshot reports.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C759"/>
                          </a:solidFill>
                        </a:defRPr>
                      </a:pPr>
                      <a:r>
                        <a:t>Hashed automated cryptographic dossier.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SIH 2026 PS 26227 | GEOSPATIAL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Deployment Architecture &amp; Requirement Traceability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411480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2FF"/>
                </a:solidFill>
              </a:defRPr>
            </a:pPr>
            <a:r>
              <a:t>OFFLINE / AIR-GAPPED DEPLOYMENT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100% On-Premises: </a:t>
            </a:r>
            <a:r>
              <a:rPr b="0">
                <a:solidFill>
                  <a:srgbClr val="94A3B8"/>
                </a:solidFill>
              </a:rPr>
              <a:t>Zero cloud or external API dependencies.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Local Inference: </a:t>
            </a:r>
            <a:r>
              <a:rPr b="0">
                <a:solidFill>
                  <a:srgbClr val="94A3B8"/>
                </a:solidFill>
              </a:rPr>
              <a:t>Runs PyTorch VLM models locally on CPU/GPU.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Docker Containerized: </a:t>
            </a:r>
            <a:r>
              <a:rPr b="0">
                <a:solidFill>
                  <a:srgbClr val="94A3B8"/>
                </a:solidFill>
              </a:rPr>
              <a:t>Single-command launcher for field stations.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Immutable Provenance: </a:t>
            </a:r>
            <a:r>
              <a:rPr b="0">
                <a:solidFill>
                  <a:srgbClr val="94A3B8"/>
                </a:solidFill>
              </a:rPr>
              <a:t>Cryptographic audit logging for intelligence dossiers.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280160"/>
            <a:ext cx="643097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12080" y="1463040"/>
          <a:ext cx="606521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493215"/>
              </a:tblGrid>
              <a:tr h="66620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D2FF"/>
                          </a:solidFill>
                        </a:defRPr>
                      </a:pPr>
                      <a:r>
                        <a:t>PS 26227 Requirement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D2FF"/>
                          </a:solidFill>
                        </a:defRPr>
                      </a:pPr>
                      <a:r>
                        <a:t>Technical Implementation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D2FF"/>
                          </a:solidFill>
                        </a:defRPr>
                      </a:pPr>
                      <a:r>
                        <a:t>Verification Status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Semantic Retrieval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VLM Vector Embeddings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VERIFIED (Live Demo)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Multi-Temporal Analysis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Spectral Trajectory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VERIFIED (Timeline)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Change Detection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NDVI/NDBI Delta Masks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VERIFIED (Change Map)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False-Alarm Suppression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Phenology &amp; Quality Masking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VERIFIED (Funnel)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Analyst Verification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Interactive Map Workstation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VERIFIED (UI Dashboard)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Air-Gapped Operation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Local PyTorch &amp; Vector Index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VERIFIED (On-Prem)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Backup 1: Ingestion &amp; Preprocessing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2FF"/>
                </a:solidFill>
              </a:defRPr>
            </a:pPr>
            <a:r>
              <a:t>DATA INGESTION &amp; QUALITY PIPELINE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GeoTIFF &amp; COG Parsing: </a:t>
            </a:r>
            <a:r>
              <a:rPr b="0">
                <a:solidFill>
                  <a:srgbClr val="FFFFFF"/>
                </a:solidFill>
              </a:rPr>
              <a:t>Uses Rasterio &amp; GDAL for cloud-optimized GeoTIFF ingestion, extracting multi-spectral bands (B2, B3, B4, B8, B11, B12).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STAC Metadata Cataloging: </a:t>
            </a:r>
            <a:r>
              <a:rPr b="0">
                <a:solidFill>
                  <a:srgbClr val="FFFFFF"/>
                </a:solidFill>
              </a:rPr>
              <a:t>Populates spatio-temporal asset catalog with cloud cover percentage, sun azimuth, and acquisition timestamps.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Atmospheric Correction &amp; QA Masking: </a:t>
            </a:r>
            <a:r>
              <a:rPr b="0">
                <a:solidFill>
                  <a:srgbClr val="FFFFFF"/>
                </a:solidFill>
              </a:rPr>
              <a:t>Applies Scene Classification Layer (SCL) to flag clouds, cirrus, snow, and water shadows.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Tiling &amp; Spatial Reprojection: </a:t>
            </a:r>
            <a:r>
              <a:rPr b="0">
                <a:solidFill>
                  <a:srgbClr val="FFFFFF"/>
                </a:solidFill>
              </a:rPr>
              <a:t>Reprojects imagery to UTM / EPSG:4326 and generates standardized 256x256 pixel spatial tiles.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Backup 2: Multimodal Embedding &amp; Vector Search Mechanics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2FF"/>
                </a:solidFill>
              </a:defRPr>
            </a:pPr>
            <a:r>
              <a:t>VISION-LANGUAGE MODEL (VLM) &amp; VECTOR SEARCH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VLM Architecture: </a:t>
            </a:r>
            <a:r>
              <a:rPr b="0">
                <a:solidFill>
                  <a:srgbClr val="FFFFFF"/>
                </a:solidFill>
              </a:rPr>
              <a:t>Utilizes OpenCLIP / RemoteCLIP Transformer backbone trained on satellite-text pairs to embed tiles into 512-dimensional feature space.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Vector Search Engine: </a:t>
            </a:r>
            <a:r>
              <a:rPr b="0">
                <a:solidFill>
                  <a:srgbClr val="FFFFFF"/>
                </a:solidFill>
              </a:rPr>
              <a:t>Employs high-performance vector indexing with Cosine Similarity and L2 distance metrics for sub-100ms response.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Multimodal Similarity Formulation: </a:t>
            </a:r>
            <a:r>
              <a:rPr b="0">
                <a:solidFill>
                  <a:srgbClr val="FFFFFF"/>
                </a:solidFill>
              </a:rPr>
              <a:t>Sim(Text, Tile) = (E_text • E_tile) / (||E_text|| ||E_tile||)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Incremental Vector Ingestion: </a:t>
            </a:r>
            <a:r>
              <a:rPr b="0">
                <a:solidFill>
                  <a:srgbClr val="FFFFFF"/>
                </a:solidFill>
              </a:rPr>
              <a:t>Appends new tile embeddings on the fly without needing full index rebuilds.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Backup 3: Spectral Change Mathematics &amp; Trajectory Formulations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2FF"/>
                </a:solidFill>
              </a:defRPr>
            </a:pPr>
            <a:r>
              <a:t>SPECTRAL FORMULATIONS &amp; CHANGE TRAJECTORIES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Normalized Difference Vegetation Index (NDVI): </a:t>
            </a:r>
            <a:r>
              <a:rPr b="0">
                <a:solidFill>
                  <a:srgbClr val="FFFFFF"/>
                </a:solidFill>
              </a:rPr>
              <a:t>NDVI = (NIR - RED) / (NIR + RED)  -&gt; Tracks vegetation cover density.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Normalized Difference Built-Up Index (NDBI): </a:t>
            </a:r>
            <a:r>
              <a:rPr b="0">
                <a:solidFill>
                  <a:srgbClr val="FFFFFF"/>
                </a:solidFill>
              </a:rPr>
              <a:t>NDBI = (SWIR - NIR) / (SWIR + NIR)  -&gt; Pinpoints artificial structures &amp; concrete.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Normalized Difference Water Index (NDWI): </a:t>
            </a:r>
            <a:r>
              <a:rPr b="0">
                <a:solidFill>
                  <a:srgbClr val="FFFFFF"/>
                </a:solidFill>
              </a:rPr>
              <a:t>NDWI = (GREEN - NIR) / (GREEN + NIR) -&gt; Maps water body boundaries.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Change Magnitude Delta: </a:t>
            </a:r>
            <a:r>
              <a:rPr b="0">
                <a:solidFill>
                  <a:srgbClr val="FFFFFF"/>
                </a:solidFill>
              </a:rPr>
              <a:t>Delta = sqrt((NDVI_after - NDVI_before)^2 + (NDBI_after - NDBI_before)^2)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Backup 4: False-Alarm Suppression Algorithms &amp; Noise Reduction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2FF"/>
                </a:solidFill>
              </a:defRPr>
            </a:pPr>
            <a:r>
              <a:t>ALGORITHMIC NOISE SUPPRESSION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Phenology Cycle Matching: </a:t>
            </a:r>
            <a:r>
              <a:rPr b="0">
                <a:solidFill>
                  <a:srgbClr val="FFFFFF"/>
                </a:solidFill>
              </a:rPr>
              <a:t>Compares same-month observations across consecutive years to cancel out annual agricultural cycles.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Sub-Pixel Registration: </a:t>
            </a:r>
            <a:r>
              <a:rPr b="0">
                <a:solidFill>
                  <a:srgbClr val="FFFFFF"/>
                </a:solidFill>
              </a:rPr>
              <a:t>Applies phase correlation to align multi-temporal scenes within 0.2 pixel margin, eliminating edge ringing.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Temporal Persistence Filter: </a:t>
            </a:r>
            <a:r>
              <a:rPr b="0">
                <a:solidFill>
                  <a:srgbClr val="FFFFFF"/>
                </a:solidFill>
              </a:rPr>
              <a:t>Change score must exceed threshold T across N &gt;= 3 consecutive observations to trigger alert.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Spatial Context Morphology: </a:t>
            </a:r>
            <a:r>
              <a:rPr b="0">
                <a:solidFill>
                  <a:srgbClr val="FFFFFF"/>
                </a:solidFill>
              </a:rPr>
              <a:t>Applies opening/closing morphological operations to filter isolated pixel noise.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Backup 5: Air-Gapped Security &amp; Local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2FF"/>
                </a:solidFill>
              </a:defRPr>
            </a:pPr>
            <a:r>
              <a:t>SECURITY &amp; OPERATIONAL HARDENING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Zero Network Dependency: </a:t>
            </a:r>
            <a:r>
              <a:rPr b="0">
                <a:solidFill>
                  <a:srgbClr val="FFFFFF"/>
                </a:solidFill>
              </a:rPr>
              <a:t>All model weights, indexes, and database assets reside locally inside isolated containers.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Resource Optimization: </a:t>
            </a:r>
            <a:r>
              <a:rPr b="0">
                <a:solidFill>
                  <a:srgbClr val="FFFFFF"/>
                </a:solidFill>
              </a:rPr>
              <a:t>Runs efficiently on CPU workstations or GPU edge servers (NVIDIA Orin / RTX).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Role-Based Access Control: </a:t>
            </a:r>
            <a:r>
              <a:rPr b="0">
                <a:solidFill>
                  <a:srgbClr val="FFFFFF"/>
                </a:solidFill>
              </a:rPr>
              <a:t>Enforces local authentication and role-based permissions for analysts.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Audit Provenance Logging: </a:t>
            </a:r>
            <a:r>
              <a:rPr b="0">
                <a:solidFill>
                  <a:srgbClr val="FFFFFF"/>
                </a:solidFill>
              </a:rPr>
              <a:t>Generates SHA-256 hashed audit records for every search, query, and exported evidence dossier.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Backup 6: Ground Truth Dataset &amp; Evaluation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2FF"/>
                </a:solidFill>
              </a:defRPr>
            </a:pPr>
            <a:r>
              <a:t>BENCHMARK DATASET &amp; EVALUATION METRICS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Annotated EO Evaluation Set: </a:t>
            </a:r>
            <a:r>
              <a:rPr b="0">
                <a:solidFill>
                  <a:srgbClr val="FFFFFF"/>
                </a:solidFill>
              </a:rPr>
              <a:t>500+ annotated Sentinel-2 multi-temporal scenes across diverse terrain (industrial, riverine, forest, coastal).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Retrieval Performance Metrics: </a:t>
            </a:r>
            <a:r>
              <a:rPr b="0">
                <a:solidFill>
                  <a:srgbClr val="FFFFFF"/>
                </a:solidFill>
              </a:rPr>
              <a:t>Evaluated via Precision@K, Recall@K, Mean Reciprocal Rank (MRR), and nDCG@5.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Change Detection Metrics: </a:t>
            </a:r>
            <a:r>
              <a:rPr b="0">
                <a:solidFill>
                  <a:srgbClr val="FFFFFF"/>
                </a:solidFill>
              </a:rPr>
              <a:t>Evaluated against human analyst annotations using IoU (Intersection over Union), F1-Score, and False Alarm Rate.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Latency &amp; System Profiling: </a:t>
            </a:r>
            <a:r>
              <a:rPr b="0">
                <a:solidFill>
                  <a:srgbClr val="FFFFFF"/>
                </a:solidFill>
              </a:rPr>
              <a:t>Benchmarked query retrieval time, index build throughput, and memory footprint under multi-gigabyte loads.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Backup 7: Full PS 26227 Requirement Traceability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463040"/>
          <a:ext cx="103628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876495"/>
                <a:gridCol w="2286000"/>
              </a:tblGrid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D2FF"/>
                          </a:solidFill>
                        </a:defRPr>
                      </a:pPr>
                      <a:r>
                        <a:t>PS 26227 Detailed Requirement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D2FF"/>
                          </a:solidFill>
                        </a:defRPr>
                      </a:pPr>
                      <a:r>
                        <a:t>Architecture Module Implementation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D2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Text-to-Image Semantic Search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OpenCLIP Embedder + Vector Search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Image-to-Image Similarity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Visual Embedding Cosine Similarity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Multi-Temporal Stack Analysis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Spectral Trajectory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False-Alarm Suppression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SCL Quality + Phenology Filter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Geospatial Localization &amp; Map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MapLibre GL + PostGIS Spatial Index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Analyst Audit Trail &amp; Dossiers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SHA-256 Hashed Evidence Logger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Offline / Air-Gapped Operation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100% Local Containerized Execution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C759"/>
                          </a:solidFill>
                        </a:defRPr>
                      </a:pPr>
                      <a:r>
                        <a:t>COMPLIANT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2FF"/>
                </a:solidFill>
                <a:latin typeface="Helvetica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</a:defRPr>
            </a:pPr>
            <a:r>
              <a:t>Backup 8: Future Scalability &amp; Field Deployment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2FF"/>
                </a:solidFill>
              </a:defRPr>
            </a:pPr>
            <a:r>
              <a:t>SCALABILITY &amp; OPERATIONAL ROADMAP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Phase 1: Field Station Deployment: </a:t>
            </a:r>
            <a:r>
              <a:rPr b="0">
                <a:solidFill>
                  <a:srgbClr val="FFFFFF"/>
                </a:solidFill>
              </a:rPr>
              <a:t>Packaging current container stack for edge deployment on tactical military workstations.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Phase 2: Multi-Sensor Fusion: </a:t>
            </a:r>
            <a:r>
              <a:rPr b="0">
                <a:solidFill>
                  <a:srgbClr val="FFFFFF"/>
                </a:solidFill>
              </a:rPr>
              <a:t>Expanding beyond Sentinel-2 optical data to integrate Synthetic Aperture Radar (SAR / Sentinel-1) for all-weather imagery.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Phase 3: Automated Cluster Discovery: </a:t>
            </a:r>
            <a:r>
              <a:rPr b="0">
                <a:solidFill>
                  <a:srgbClr val="FFFFFF"/>
                </a:solidFill>
              </a:rPr>
              <a:t>Unsupervised spatial-temporal clustering for autonomous hotspot discovery across vast regions.</a:t>
            </a:r>
          </a:p>
          <a:p>
            <a:pPr>
              <a:spcAft>
                <a:spcPts val="1200"/>
              </a:spcAft>
              <a:defRPr b="1" sz="1200">
                <a:solidFill>
                  <a:srgbClr val="00D2FF"/>
                </a:solidFill>
              </a:defRPr>
            </a:pPr>
            <a:r>
              <a:t>• Phase 4: Defense System Integration: </a:t>
            </a:r>
            <a:r>
              <a:rPr b="0">
                <a:solidFill>
                  <a:srgbClr val="FFFFFF"/>
                </a:solidFill>
              </a:rPr>
              <a:t>Connecting report export pipeline with standard GIS format specifications.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